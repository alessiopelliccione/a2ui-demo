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Generative Frontend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1E40AF"/>
                </a:solidFill>
              </a:rPr>
              <a:t>Generative 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>
                <a:solidFill>
                  <a:srgbClr val="646464"/>
                </a:solidFill>
              </a:rPr>
              <a:t>Server-Driven UI powered by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i="1">
                <a:solidFill>
                  <a:srgbClr val="969696"/>
                </a:solidFill>
              </a:rPr>
              <a:t>Using Google A2UI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Generative Frontend?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UI that is NOT static, but generated/modified by AI at runtime</a:t>
            </a:r>
          </a:p>
          <a:p>
            <a:pPr/>
            <a:r>
              <a:t>The LLM controls: text, layout, components, behaviors</a:t>
            </a:r>
          </a:p>
          <a:p>
            <a:pPr/>
            <a:r>
              <a:t>Moving from 'pre-compiled UI' to 'UI negotiated with the model'</a:t>
            </a:r>
          </a:p>
          <a:p>
            <a:pPr/>
            <a:r>
              <a:t>Design system becomes a spoken language with the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E40AF"/>
                </a:solidFill>
              </a:rPr>
              <a:t>What is a Generative Frontend?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Adaptive UIs per person, context, device</a:t>
            </a:r>
          </a:p>
          <a:p>
            <a:pPr/>
            <a:r>
              <a:t>Runtime-generated microfrontends</a:t>
            </a:r>
          </a:p>
          <a:p>
            <a:pPr/>
            <a:r>
              <a:t>Advanced personalization (headlines, sections, copy)</a:t>
            </a:r>
          </a:p>
          <a:p>
            <a:pPr/>
            <a:r>
              <a:t>Dynamic UX for internal/enterprise apps</a:t>
            </a:r>
          </a:p>
          <a:p>
            <a:pPr/>
            <a:r>
              <a:t>No deployment needed to change parts of the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E40AF"/>
                </a:solidFill>
              </a:rPr>
              <a:t>Why This Matters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Architecture: A2UI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E40AF"/>
                </a:solidFill>
              </a:rPr>
              <a:t>Architecture: LLM Output to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</a:rPr>
              <a:t>User Prompt  --&gt;  LLM (Gemini)  --&gt;  JSON Schema  --&gt;  A2UI Renderer  --&gt;  Native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37744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3C3C3C"/>
                </a:solidFill>
              </a:rPr>
              <a:t>A2UI (Agent-to-User Interface) by Google:\n\n- Security First: LLM can only request pre-approved components\n- LLM-Friendly: Flat JSON format, easy for LLM to generate\n- Framework-Agnostic: Same JSON works on Web, Flutter, iOS\n- Declarative: No code execution, just data-driven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A2UI JSON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E40AF"/>
                </a:solidFill>
              </a:rPr>
              <a:t>A2UI JSON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82828"/>
                </a:solidFill>
                <a:latin typeface="Courier New"/>
              </a:rPr>
              <a:t>{\n  "surfaceUpdate": {\n    "surfaceId": "default",\n    "components": [\n      { "id": "title", "component": {\n          "Text": { "usageHint": "h1", "text": {"path": "/headline"} }\n      }},\n      { "id": "cta", "component": {\n          "Button": { "child": "btn-text", "action": {"name": "click"} }\n      }}\n    ]\n  }\n}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1: Headline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E40AF"/>
                </a:solidFill>
              </a:rPr>
              <a:t>Demo 1: Headline Generator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505050"/>
                </a:solidFill>
              </a:rPr>
              <a:t>User input:\n"Homepage for insurance customers interested in mobility products"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10B981"/>
                </a:solidFill>
              </a:rPr>
              <a:t>LLM generates UI with:\n\n   Title: "Move Smarter, Travel Safer"\n   Subtitle: "Your mobility insurance, personalized"\n   CTA: "Discover your coverage"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2: KPI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E40AF"/>
                </a:solidFill>
              </a:rPr>
              <a:t>Demo 2: KPI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505050"/>
                </a:solidFill>
              </a:rPr>
              <a:t>Prompt: "Add a section with KPIs about user's policy status"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2286000"/>
          <a:ext cx="73152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85800">
                <a:tc>
                  <a:txBody>
                    <a:bodyPr wrap="square"/>
                    <a:lstStyle/>
                    <a:p>
                      <a:r>
                        <a:rPr sz="1200" b="1"/>
                        <a:t>Active Policies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Pending Claims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/>
                        <a:t>Payments Due</a:t>
                      </a:r>
                    </a:p>
                  </a:txBody>
                  <a:tcPr>
                    <a:solidFill>
                      <a:srgbClr val="1E40A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/>
                        <a:t>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r>
                        <a:rPr sz="1000"/>
                        <a:t>None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3: Comparison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E40AF"/>
                </a:solidFill>
              </a:rPr>
              <a:t>Demo 3: Comparison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505050"/>
                </a:solidFill>
              </a:rPr>
              <a:t>Prompt: "Add a comparison table between products A and B, with pros/cons"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10B981"/>
                </a:solidFill>
              </a:rPr>
              <a:t>LLM generates a Card + Column layout with:\n\n- Two side-by-side product cards\n- Pros/Cons sections for each\n- "Choose This" buttons with actions\n- Data binding to product details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4: UI Correction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E40AF"/>
                </a:solidFill>
              </a:rPr>
              <a:t>Demo 4: UI Correction via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505050"/>
                </a:solidFill>
              </a:rPr>
              <a:t>Prompt: "Make it more compact and mobile-first"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>
                <a:solidFill>
                  <a:srgbClr val="10B981"/>
                </a:solidFill>
              </a:rPr>
              <a:t>The LLM regenerates:\n\n- Layout changes: Row -&gt; Column (vertical stacking)\n- Smaller headings: h1 -&gt; h3\n- Reduced spacing\n- Simplified component tree\n\nSame surfaceId = in-place update!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Code: UI Renderer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E40AF"/>
                </a:solidFill>
              </a:rPr>
              <a:t>Code: Minimal UI Renderer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8229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282828"/>
                </a:solidFill>
                <a:latin typeface="Courier New"/>
              </a:rPr>
              <a:t>const componentMap = {\n  Text: TextComponent,\n  Button: ButtonComponent,\n  Card: CardComponent,\n  Row: RowComponent,\n};\n\nrenderNode(node, container) {\n  const Comp = componentMap[node.type];\n  const ref = container.createComponent(Comp);\n  Object.assign(ref.instance, node.props);\n  \n  node.children?.forEach(child =&gt;\n    this.renderNode(child, ref.instance.childContainer)\n  );\n}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LLMs are transforming the concept of frontend</a:t>
            </a:r>
          </a:p>
          <a:p>
            <a:pPr/>
            <a:r>
              <a:t>UI becomes runtime and adaptive</a:t>
            </a:r>
          </a:p>
          <a:p>
            <a:pPr/>
            <a:r>
              <a:t>A2UI is secure: declarative JSON, no code execution</a:t>
            </a:r>
          </a:p>
          <a:p>
            <a:pPr/>
            <a:r>
              <a:t>Framework-agnostic: Web, Flutter, iOS from same JSON</a:t>
            </a:r>
          </a:p>
          <a:p>
            <a:pPr/>
            <a:r>
              <a:t>The challenge: security, design system control, performance</a:t>
            </a:r>
          </a:p>
          <a:p>
            <a:pPr/>
            <a:r>
              <a:t>The future: AI-driven DX editor, self-generating UIs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E40AF"/>
                </a:solidFill>
              </a:rPr>
              <a:t>Key Takeaways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Chat - 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1E40AF"/>
                </a:solidFill>
              </a:rPr>
              <a:t>UI Chat -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i="1">
                <a:solidFill>
                  <a:srgbClr val="646464"/>
                </a:solidFill>
              </a:rPr>
              <a:t>Modify my UI with a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</a:rPr>
              <a:t>Add a stepper to complete onboarding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C4899"/>
                </a:solidFill>
              </a:rPr>
              <a:t>The UI changes live!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1E40AF"/>
                </a:solidFill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>
                <a:solidFill>
                  <a:srgbClr val="646464"/>
                </a:solidFill>
              </a:rPr>
              <a:t>Resources:\n\ngithub.com/google/A2UI\n\nQuestions?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